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(µs)</c:v>
                </c:pt>
              </c:strCache>
            </c:strRef>
          </c:tx>
          <c:spPr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0.154</c:v>
                </c:pt>
                <c:pt idx="1">
                  <c:v>0.222</c:v>
                </c:pt>
                <c:pt idx="2">
                  <c:v>0.27200000000000002</c:v>
                </c:pt>
                <c:pt idx="3">
                  <c:v>0.32600000000000001</c:v>
                </c:pt>
                <c:pt idx="4">
                  <c:v>0.39300000000000002</c:v>
                </c:pt>
                <c:pt idx="5">
                  <c:v>0.48299999999999998</c:v>
                </c:pt>
                <c:pt idx="6">
                  <c:v>0.49</c:v>
                </c:pt>
                <c:pt idx="7">
                  <c:v>0.55900000000000005</c:v>
                </c:pt>
                <c:pt idx="8">
                  <c:v>0.65400000000000003</c:v>
                </c:pt>
                <c:pt idx="9">
                  <c:v>0.751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8A-40E0-A22F-AF49D439D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log10(erro médio)</c:v>
                </c:pt>
              </c:strCache>
            </c:strRef>
          </c:tx>
          <c:spPr>
            <a:ln w="38100" cap="flat">
              <a:solidFill>
                <a:srgbClr val="E07B3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-0.82</c:v>
                </c:pt>
                <c:pt idx="1">
                  <c:v>-1.86</c:v>
                </c:pt>
                <c:pt idx="2">
                  <c:v>-3.12</c:v>
                </c:pt>
                <c:pt idx="3">
                  <c:v>-4.5599999999999996</c:v>
                </c:pt>
                <c:pt idx="4">
                  <c:v>-6.15</c:v>
                </c:pt>
                <c:pt idx="5">
                  <c:v>-7.87</c:v>
                </c:pt>
                <c:pt idx="6">
                  <c:v>-9.6999999999999993</c:v>
                </c:pt>
                <c:pt idx="7">
                  <c:v>-11.62</c:v>
                </c:pt>
                <c:pt idx="8">
                  <c:v>-13.64</c:v>
                </c:pt>
                <c:pt idx="9">
                  <c:v>-15.5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8A-40E0-A22F-AF49D439D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000000"/>
                    </a:solidFill>
                    <a:latin typeface="Arial"/>
                  </a:rPr>
                  <a:t>N (nº de termos)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1F77B4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1F77B4"/>
                    </a:solidFill>
                    <a:latin typeface="Arial"/>
                  </a:rPr>
                  <a:t>Tempo (µs)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77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E07B39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E07B39"/>
                    </a:solidFill>
                    <a:latin typeface="Arial"/>
                  </a:rPr>
                  <a:t>log10(erro médio)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07B39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000000"/>
                    </a:solidFill>
                    <a:latin typeface="Arial"/>
                  </a:rPr>
                  <a:t>N (nº de termos)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86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77B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EP1 - Cálculos Complexos com Séries de Taylor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FB8E6"/>
                </a:solidFill>
              </a:rPr>
              <a:t>Aplicação e Otimização do Cosseno Hiperbólico cosh(x)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5DEE8"/>
                </a:solidFill>
              </a:rPr>
              <a:t>Integrantes: Vinicius dos Santos Ribeiro, Nicolas Eugênio, Bruna </a:t>
            </a:r>
            <a:r>
              <a:rPr lang="en-US" sz="1400" dirty="0" err="1">
                <a:solidFill>
                  <a:srgbClr val="D5DEE8"/>
                </a:solidFill>
              </a:rPr>
              <a:t>Macruz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D5DEE8"/>
                </a:solidFill>
              </a:rPr>
              <a:t>Disciplina: </a:t>
            </a:r>
            <a:r>
              <a:rPr lang="pt-BR" sz="1400" dirty="0">
                <a:solidFill>
                  <a:srgbClr val="D5DEE8"/>
                </a:solidFill>
              </a:rPr>
              <a:t>PROJETO INTEGRADOR: COMPUTAÇÃO CIENTÍFICA</a:t>
            </a:r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D5DEE8"/>
                </a:solidFill>
              </a:rPr>
              <a:t>Professor(a): </a:t>
            </a:r>
            <a:r>
              <a:rPr lang="pt-BR" sz="1400" dirty="0">
                <a:solidFill>
                  <a:srgbClr val="D5DEE8"/>
                </a:solidFill>
              </a:rPr>
              <a:t>Celso Crivelaro</a:t>
            </a:r>
            <a:endParaRPr lang="en-US" sz="1400" dirty="0">
              <a:solidFill>
                <a:srgbClr val="D5DE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Contexto</a:t>
            </a:r>
            <a:r>
              <a:rPr lang="en-US" dirty="0"/>
              <a:t> e Motivação Computacional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O hardware executa nativamente só somas, subtrações, multiplicações e divisões.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cosh(x), sin(x) e eˣ não existem como instrução no processador.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Bibliotecas (math, NumPy, libm) usam aproximações polinomiais.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Polinômio = apenas + e ×; o erro é controlável pelo número de termos.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</a:rPr>
              <a:t>Pergunta do projeto: quantos termos usar e como calculá-los com eficiência?</a:t>
            </a:r>
            <a:endParaRPr lang="en-US" sz="1500" dirty="0"/>
          </a:p>
        </p:txBody>
      </p:sp>
      <p:sp>
        <p:nvSpPr>
          <p:cNvPr id="4" name="bloco0"/>
          <p:cNvSpPr txBox="1"/>
          <p:nvPr/>
        </p:nvSpPr>
        <p:spPr>
          <a:xfrm>
            <a:off x="5943600" y="1280160"/>
            <a:ext cx="2743200" cy="731520"/>
          </a:xfrm>
          <a:prstGeom prst="rect">
            <a:avLst/>
          </a:prstGeom>
          <a:solidFill>
            <a:srgbClr val="1F77B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x</a:t>
            </a:r>
            <a:endParaRPr lang="en-US" sz="1600" dirty="0"/>
          </a:p>
        </p:txBody>
      </p:sp>
      <p:sp>
        <p:nvSpPr>
          <p:cNvPr id="5" name="bloco1"/>
          <p:cNvSpPr txBox="1"/>
          <p:nvPr/>
        </p:nvSpPr>
        <p:spPr>
          <a:xfrm>
            <a:off x="5943600" y="2468880"/>
            <a:ext cx="2743200" cy="731520"/>
          </a:xfrm>
          <a:prstGeom prst="rect">
            <a:avLst/>
          </a:prstGeom>
          <a:solidFill>
            <a:srgbClr val="2E9E6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Taylor: + × ÷</a:t>
            </a:r>
            <a:endParaRPr lang="en-US" sz="1600" dirty="0"/>
          </a:p>
        </p:txBody>
      </p:sp>
      <p:sp>
        <p:nvSpPr>
          <p:cNvPr id="6" name="bloco2"/>
          <p:cNvSpPr txBox="1"/>
          <p:nvPr/>
        </p:nvSpPr>
        <p:spPr>
          <a:xfrm>
            <a:off x="5943600" y="3657600"/>
            <a:ext cx="2743200" cy="731520"/>
          </a:xfrm>
          <a:prstGeom prst="rect">
            <a:avLst/>
          </a:prstGeom>
          <a:solidFill>
            <a:srgbClr val="E07B3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cosh(x) 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Definição</a:t>
            </a:r>
            <a:r>
              <a:rPr lang="en-US" dirty="0"/>
              <a:t> Teórica e Derivadas em x₀ = 0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</a:rPr>
              <a:t>cosh(x) = (eˣ + e⁻ˣ) / 2     com  (cosh x)′ = sinh x  e  (sinh x)′ = cosh x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754880" cy="23042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Ordem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Derivada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Valor em 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cosh(x)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cosh(0) = 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sinh(x)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sinh(0) = 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cosh(x)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cosh(0) = 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sinh(x)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sinh(0) = 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cosh(x)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A"/>
                          </a:solidFill>
                        </a:rPr>
                        <a:t>cosh(0) = 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5544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Padrão: f⁽ⁿ⁾(0) = 1 se n é par; 0 se n é ímpar.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Só sobrevivem os termos de potência par.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  Série de Taylor e Limite de N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77B4"/>
                </a:solidFill>
              </a:rPr>
              <a:t>cosh(x) = Σ x²ⁿ/(2n)! = 1 + x²/2! + x⁴/4! + x⁶/6! + …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Raio de convergência infinito: vale para todo x real.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Por que N ≤ 10? (2n)! cresce muito rápido.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Em x = 1, o erro de truncamento ≈ 1/(2N+2)!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Acima de N ≈ 8, mais termos não melhoram o float64.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737360"/>
          <a:ext cx="3474720" cy="14630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Erro (x = 1)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≈ 2,5×10⁻⁵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≈ 2,1×10⁻⁹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≈ 1,6×10⁻¹⁶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≈ ε float64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Otimização</a:t>
            </a:r>
            <a:r>
              <a:rPr lang="en-US" dirty="0"/>
              <a:t> do Algoritmo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Ingênua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4023360" cy="2194560"/>
          </a:xfrm>
          <a:prstGeom prst="rect">
            <a:avLst/>
          </a:prstGeom>
          <a:solidFill>
            <a:srgbClr val="F2F5F9"/>
          </a:solidFill>
          <a:ln w="19050">
            <a:solidFill>
              <a:srgbClr val="C0392B"/>
            </a:solidFill>
          </a:ln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cosh_naive(x, 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x**(2*n) / math.factorial(2*n)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n in range(N+1))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recalcula pow e fatorial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cada termo: O(N²)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B"/>
                </a:solidFill>
              </a:rPr>
              <a:t>Otimizada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45920"/>
            <a:ext cx="4023360" cy="2194560"/>
          </a:xfrm>
          <a:prstGeom prst="rect">
            <a:avLst/>
          </a:prstGeom>
          <a:solidFill>
            <a:srgbClr val="F2F5F9"/>
          </a:solidFill>
          <a:ln w="19050">
            <a:solidFill>
              <a:srgbClr val="2E9E6B"/>
            </a:solidFill>
          </a:ln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cosh_taylor(x, 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term, total = 1.0, 1.0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in range(1, N+1):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term *= x*x / ((2*k-1)*(2*k))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term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reaproveita o termo: O(N)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7B4"/>
                </a:solidFill>
              </a:rPr>
              <a:t>Recorrência:  t₀ = 1,   tₖ = tₖ₋₁ · x² / ((2k−1)(2k))        Ex.: t₂ = t₁ · x²/(3·4) = x⁴/4!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Propriedades</a:t>
            </a:r>
            <a:r>
              <a:rPr lang="en-US" dirty="0"/>
              <a:t> e Tabela de Valores Fixos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Paridade: cosh(−x) = cosh(x), então basta usar |x|.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Redução de domínio: cosh(x) = 2cosh²(x/2) − 1.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Lookup Table com math.isclose() (evita comparar float com ==).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</a:rPr>
              <a:t>Se isclose(x, chave): retorna o valor tabelado, sem recalcular.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188720"/>
          <a:ext cx="329184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cosh(x)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7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≈ 1,5430806348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ln 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5/4 = 1,25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3108960"/>
            <a:ext cx="3291840" cy="731520"/>
          </a:xfrm>
          <a:prstGeom prst="rect">
            <a:avLst/>
          </a:prstGeom>
          <a:solidFill>
            <a:srgbClr val="2E9E6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x → |x| → na tabela? → sim: valor / não: Taylor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Análise</a:t>
            </a:r>
            <a:r>
              <a:rPr lang="en-US" dirty="0"/>
              <a:t> de Performance: Erro vs. Tempo</a:t>
            </a:r>
          </a:p>
        </p:txBody>
      </p:sp>
      <p:graphicFrame>
        <p:nvGraphicFramePr>
          <p:cNvPr id="3" name="grafico"/>
          <p:cNvGraphicFramePr/>
          <p:nvPr/>
        </p:nvGraphicFramePr>
        <p:xfrm>
          <a:off x="365760" y="1005840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097280"/>
            <a:ext cx="2926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</a:rPr>
              <a:t>Experimento: timeit por N = 1…10; erro médio vs. math.cosh em x ∈ [−2, 2].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</a:rPr>
              <a:t>Tempo cresce ~linear em N; erro cai super-exponencialmente.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</a:rPr>
              <a:t>Trade-off: em N ≈ 10 o erro médio atinge o limite do float64; depois só o tempo sobe.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</a:rPr>
              <a:t>Conclusão: usar o menor N que atinge a precisão desejada.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1">
  <a:themeElements>
    <a:clrScheme name="EP1">
      <a:dk1>
        <a:srgbClr val="1B2A3A"/>
      </a:dk1>
      <a:lt1>
        <a:srgbClr val="FFFFFF"/>
      </a:lt1>
      <a:dk2>
        <a:srgbClr val="0F1B2D"/>
      </a:dk2>
      <a:lt2>
        <a:srgbClr val="F2F5F9"/>
      </a:lt2>
      <a:accent1>
        <a:srgbClr val="1F77B4"/>
      </a:accent1>
      <a:accent2>
        <a:srgbClr val="E07B39"/>
      </a:accent2>
      <a:accent3>
        <a:srgbClr val="2E9E6B"/>
      </a:accent3>
      <a:accent4>
        <a:srgbClr val="C0392B"/>
      </a:accent4>
      <a:accent5>
        <a:srgbClr val="6C7A89"/>
      </a:accent5>
      <a:accent6>
        <a:srgbClr val="8E5BB5"/>
      </a:accent6>
      <a:hlink>
        <a:srgbClr val="1F77B4"/>
      </a:hlink>
      <a:folHlink>
        <a:srgbClr val="6C7A89"/>
      </a:folHlink>
    </a:clrScheme>
    <a:fontScheme name="EP1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748</Words>
  <Application>Microsoft Office PowerPoint</Application>
  <PresentationFormat>Apresentação na tela (16:9)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EP1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VINICIUS DOS SANTOS RIBEIRO</cp:lastModifiedBy>
  <cp:revision>2</cp:revision>
  <dcterms:created xsi:type="dcterms:W3CDTF">2026-10-05T19:31:00Z</dcterms:created>
  <dcterms:modified xsi:type="dcterms:W3CDTF">2026-10-05T19:35:50Z</dcterms:modified>
</cp:coreProperties>
</file>